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AEC4-6690-5655-9888-C0877AD28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AB1EF-FBFF-42A7-1178-0AB55A9ED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140C-2754-EED6-78C4-E56E1FA2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C8324-78DE-9E83-537D-0DC5B7F5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3B280-7DB7-687B-9BE3-92C6C312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F6F8-9145-7FE5-4922-052C05B1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FCCB1-284D-44F6-30A7-4821B7D6C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C26E0-DA39-71FD-CA5E-0ACA3A1F2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A7141-3C57-8743-5237-47B334C4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7A41E-2A84-E10E-7B9D-472DA5AD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94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C1BC-7A5B-12BD-C92E-D92F6128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4F7F3-974F-DBF4-0E31-C7057E8EC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CCB15-BE6C-7663-08A2-CABEB9A6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EA2C6-9699-7627-202F-68F229153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DCD17-1ED1-B0E0-6BCD-7FF26C6EC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66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2E9C7-C355-1509-23C0-A0C5EADF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723C1-367B-DFF5-D362-7AB09D4552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BCF52-1046-EAA4-00DA-0FD1F4601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B9997-C2F8-EAB6-A866-FDDF80A64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9C945-83EA-0CAD-1CA6-D3B15D0DE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188EE-AE6C-CD8B-E175-0FD9C167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14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371B-0573-1D03-777C-ECB97A2F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19731-81A1-4003-6B16-4F20365E0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BBC1-B00A-9190-0B71-290E3F934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3888A6-9BEB-E46F-B185-CACD4FD419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04514-86C0-9819-2859-54A0C61F7F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4700D-DCA9-6414-63E9-E5EA0AD6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36CC9-9159-1401-9A3D-46094BB6A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0BB95-6DC8-6CAD-ECD1-77FE72B3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822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3D3A-CC2E-6275-7E3C-7BEC24AAB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E0B30-87A1-B9A3-96D5-F6839586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0D935-F77C-C1CA-16A0-26B020D7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1CA22-3D95-4644-B9C8-5E0997BB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66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538BB-F52B-4F3A-999F-B7FA2B21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60BB4-BAEA-1ED9-40A9-A434EF94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133A6-01CC-8B11-8BA5-43E2B2DDD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70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FAA8-C9D7-BE16-C5CA-5355F7CD7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4965-1B79-CE92-DA89-99D825155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2CA3-F4D4-11FC-919C-282F08133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B0E71-74EE-73CB-AC4A-734AE2C54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59FBC-1A44-494E-CFB1-B1B0168C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18AA1-DD29-6604-8AE1-E6F6BA16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21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A80C-2EC0-0179-653D-44D1AC70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E6A9B-D8FD-0704-449F-3FB1ACC84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9BBA9-F2ED-D4D2-5373-BF38D545F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00EFE-C34F-9E7B-D0F7-B67445DC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F95E2-7D3D-4346-34C5-8469EAC80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C08C3-B082-F446-1165-0473B07CC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01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C44D-808C-D6E2-FCF1-09A15130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B6E4D-7E62-85D0-D5FC-BE98E45C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6890-D569-E258-8360-C1C73F95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219E2-3E52-3076-218E-FE0D7A13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725B1-38D5-BEAF-E607-B16E0A33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581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CE042-5176-B76A-50F3-AD48496083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44ABA-ABCF-C27B-A39C-4E9596A6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C75C8-C6FE-0B40-664D-16F791BC8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0591-1C89-A04E-4DBD-93DA095C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22007-B2EF-8B0A-8D9B-D0BA23D65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990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8B215-2BE8-55AC-AE05-62F43540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CE3B3-DE27-7923-AEFB-DCFF9F514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CF9C4-9D81-F54B-D366-A187CA2D4F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5279F-7705-4695-87E2-3DB93C915BD5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FB4F2-FBEE-BEE1-2E78-55B249EA7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102C8-F1D2-9DFC-F40E-A8F6912870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E90A2-C513-4857-90A3-89C608CC2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97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AF376-AFEA-25F4-18A8-C4193C10811D}"/>
              </a:ext>
            </a:extLst>
          </p:cNvPr>
          <p:cNvSpPr/>
          <p:nvPr/>
        </p:nvSpPr>
        <p:spPr>
          <a:xfrm>
            <a:off x="1453657" y="1960541"/>
            <a:ext cx="2784359" cy="33017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Whatsap</a:t>
            </a:r>
            <a:r>
              <a:rPr lang="en-US" b="1" dirty="0">
                <a:solidFill>
                  <a:schemeClr val="bg1"/>
                </a:solidFill>
              </a:rPr>
              <a:t> Bot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F430F-8591-B4D3-23B4-D68334662FC8}"/>
              </a:ext>
            </a:extLst>
          </p:cNvPr>
          <p:cNvSpPr txBox="1"/>
          <p:nvPr/>
        </p:nvSpPr>
        <p:spPr>
          <a:xfrm>
            <a:off x="102636" y="2798058"/>
            <a:ext cx="54864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WhatsApp Automation System</a:t>
            </a:r>
            <a:br>
              <a:rPr lang="en-US" sz="2800" dirty="0"/>
            </a:br>
            <a:r>
              <a:rPr lang="en-US" sz="2800" dirty="0"/>
              <a:t>Customer registration</a:t>
            </a:r>
            <a:br>
              <a:rPr lang="en-US" sz="2800" dirty="0"/>
            </a:br>
            <a:r>
              <a:rPr lang="en-US" dirty="0"/>
              <a:t>IMPEX – Saudi Arabia</a:t>
            </a:r>
            <a:endParaRPr lang="en-US" sz="2800" b="1" dirty="0">
              <a:latin typeface="Arial Black" panose="020B0A040201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63ECB5-3178-F5BE-BB96-54585CFE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3A45-9F1C-A2B7-EAB3-B4042BD8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0" y="5560515"/>
            <a:ext cx="3299157" cy="877213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1400" dirty="0"/>
              <a:t>Date : 		04-08-2026</a:t>
            </a:r>
          </a:p>
          <a:p>
            <a:pPr marL="0" indent="0">
              <a:buNone/>
            </a:pPr>
            <a:r>
              <a:rPr lang="en-IN" sz="1400" dirty="0"/>
              <a:t>Place : 		Impex, Dubai</a:t>
            </a:r>
          </a:p>
          <a:p>
            <a:pPr marL="0" indent="0">
              <a:buNone/>
            </a:pPr>
            <a:r>
              <a:rPr lang="en-IN" sz="1400" dirty="0"/>
              <a:t>Department :	Customer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DABD4-9A10-A6BC-4E37-270A3396F2CD}"/>
              </a:ext>
            </a:extLst>
          </p:cNvPr>
          <p:cNvSpPr txBox="1"/>
          <p:nvPr/>
        </p:nvSpPr>
        <p:spPr>
          <a:xfrm>
            <a:off x="443628" y="4174109"/>
            <a:ext cx="4804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Objective: Reduce service center call traffic</a:t>
            </a:r>
            <a:endParaRPr lang="en-US" sz="20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4F031-C5D9-BD1A-852D-450402B25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92" y="821063"/>
            <a:ext cx="5662151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61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63ECB5-3178-F5BE-BB96-54585CFE71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6A77D8-7BED-FBF2-37D2-3BF52F1F5F05}"/>
              </a:ext>
            </a:extLst>
          </p:cNvPr>
          <p:cNvSpPr txBox="1"/>
          <p:nvPr/>
        </p:nvSpPr>
        <p:spPr>
          <a:xfrm>
            <a:off x="6096000" y="1305341"/>
            <a:ext cx="51528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E" b="1" u="sng" dirty="0"/>
              <a:t>Proposed Bot Process for home service booking</a:t>
            </a:r>
          </a:p>
          <a:p>
            <a:pPr marL="514350" indent="-514350">
              <a:buAutoNum type="arabicPeriod"/>
            </a:pPr>
            <a:endParaRPr lang="en-AE" b="1" u="sng" dirty="0"/>
          </a:p>
          <a:p>
            <a:pPr marL="514350" indent="-514350">
              <a:buAutoNum type="arabicPeriod"/>
            </a:pPr>
            <a:r>
              <a:rPr lang="en-AE" b="1" dirty="0"/>
              <a:t>Customer starts WhatsApp Bot</a:t>
            </a:r>
          </a:p>
          <a:p>
            <a:endParaRPr lang="en-AE" b="1" dirty="0"/>
          </a:p>
          <a:p>
            <a:pPr>
              <a:buNone/>
            </a:pPr>
            <a:r>
              <a:rPr lang="en-AE" dirty="0"/>
              <a:t>Customer types:</a:t>
            </a:r>
          </a:p>
          <a:p>
            <a:pPr>
              <a:buNone/>
            </a:pPr>
            <a:r>
              <a:rPr lang="en-AE" b="1" dirty="0"/>
              <a:t>REG</a:t>
            </a:r>
            <a:endParaRPr lang="en-AE" dirty="0"/>
          </a:p>
          <a:p>
            <a:pPr>
              <a:buNone/>
            </a:pPr>
            <a:r>
              <a:rPr lang="en-AE" dirty="0"/>
              <a:t>Bot displays: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b="1" dirty="0"/>
              <a:t>Welcome to Impex Service</a:t>
            </a:r>
            <a:endParaRPr lang="en-AE" dirty="0"/>
          </a:p>
          <a:p>
            <a:pPr>
              <a:buNone/>
            </a:pPr>
            <a:r>
              <a:rPr lang="en-AE" dirty="0"/>
              <a:t>Please select an option:</a:t>
            </a:r>
          </a:p>
          <a:p>
            <a:pPr>
              <a:buNone/>
            </a:pPr>
            <a:r>
              <a:rPr lang="en-AE" b="1" dirty="0"/>
              <a:t>1️⃣ Dealer Pick-up Registration</a:t>
            </a:r>
            <a:br>
              <a:rPr lang="en-AE" dirty="0"/>
            </a:br>
            <a:r>
              <a:rPr lang="en-AE" b="1" dirty="0"/>
              <a:t>2️⃣ Customer Complaint Registration</a:t>
            </a:r>
            <a:br>
              <a:rPr lang="en-AE" dirty="0"/>
            </a:br>
            <a:r>
              <a:rPr lang="en-AE" b="1" dirty="0"/>
              <a:t>3️⃣ Rate Our Service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Please reply with </a:t>
            </a:r>
            <a:r>
              <a:rPr lang="en-AE" b="1" dirty="0"/>
              <a:t>1, 2 or 3</a:t>
            </a:r>
            <a:r>
              <a:rPr lang="en-AE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B7B02C-2491-70D4-8CFB-CE060C81D429}"/>
              </a:ext>
            </a:extLst>
          </p:cNvPr>
          <p:cNvSpPr txBox="1"/>
          <p:nvPr/>
        </p:nvSpPr>
        <p:spPr>
          <a:xfrm>
            <a:off x="445538" y="1469209"/>
            <a:ext cx="51528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AE" b="1" dirty="0"/>
          </a:p>
          <a:p>
            <a:pPr>
              <a:buNone/>
            </a:pPr>
            <a:r>
              <a:rPr lang="en-AE" b="1" u="sng" dirty="0"/>
              <a:t>CURRENT PROCESS</a:t>
            </a:r>
          </a:p>
          <a:p>
            <a:pPr>
              <a:buNone/>
            </a:pPr>
            <a:r>
              <a:rPr lang="en-AE" b="1" dirty="0"/>
              <a:t>Customer calls Customer Care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→ CC collects details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→ CC checks product/warranty/invoice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→ Backend registration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→ Service centre allocation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→ Service person contacts customer</a:t>
            </a:r>
          </a:p>
        </p:txBody>
      </p:sp>
    </p:spTree>
    <p:extLst>
      <p:ext uri="{BB962C8B-B14F-4D97-AF65-F5344CB8AC3E}">
        <p14:creationId xmlns:p14="http://schemas.microsoft.com/office/powerpoint/2010/main" val="60785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86D2D-9AAF-DA67-5F6A-49C1DE4C5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9E2EFE-B681-8315-65DA-AFBC976B3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8B655C-54BC-7817-F319-4DC444C5C971}"/>
              </a:ext>
            </a:extLst>
          </p:cNvPr>
          <p:cNvSpPr txBox="1"/>
          <p:nvPr/>
        </p:nvSpPr>
        <p:spPr>
          <a:xfrm>
            <a:off x="72312" y="124535"/>
            <a:ext cx="406114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2. Customer Complaint Registration</a:t>
            </a:r>
          </a:p>
          <a:p>
            <a:pPr>
              <a:buNone/>
            </a:pPr>
            <a:r>
              <a:rPr lang="en-AE" dirty="0"/>
              <a:t>Customer selects:</a:t>
            </a:r>
          </a:p>
          <a:p>
            <a:pPr>
              <a:buNone/>
            </a:pPr>
            <a:r>
              <a:rPr lang="en-AE" b="1" dirty="0"/>
              <a:t>2️⃣ Customer Complaint Registration</a:t>
            </a:r>
            <a:endParaRPr lang="en-AE" dirty="0"/>
          </a:p>
          <a:p>
            <a:pPr>
              <a:buNone/>
            </a:pPr>
            <a:r>
              <a:rPr lang="en-AE" dirty="0"/>
              <a:t>Bot displays the eligible product groups: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Washing Machine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Air Conditioner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Refrigerator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Television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Dishwasher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Chest Freezer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Chillers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E" dirty="0"/>
              <a:t>Big Coolers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27A09-8AD0-B868-C0BD-53BC400B68F0}"/>
              </a:ext>
            </a:extLst>
          </p:cNvPr>
          <p:cNvSpPr txBox="1"/>
          <p:nvPr/>
        </p:nvSpPr>
        <p:spPr>
          <a:xfrm>
            <a:off x="165618" y="3704635"/>
            <a:ext cx="609755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700" b="1" dirty="0"/>
              <a:t>3. Product &amp; Model Selection</a:t>
            </a:r>
          </a:p>
          <a:p>
            <a:pPr>
              <a:buNone/>
            </a:pPr>
            <a:r>
              <a:rPr lang="en-AE" sz="1700" dirty="0"/>
              <a:t>Customer selects:</a:t>
            </a:r>
          </a:p>
          <a:p>
            <a:pPr>
              <a:buNone/>
            </a:pPr>
            <a:r>
              <a:rPr lang="en-AE" sz="1700" b="1" dirty="0"/>
              <a:t>Product Group → Model</a:t>
            </a:r>
            <a:endParaRPr lang="en-AE" sz="1700" dirty="0"/>
          </a:p>
          <a:p>
            <a:pPr>
              <a:buNone/>
            </a:pPr>
            <a:r>
              <a:rPr lang="en-AE" sz="1700" dirty="0"/>
              <a:t>The system checks the </a:t>
            </a:r>
            <a:r>
              <a:rPr lang="en-AE" sz="1700" b="1" dirty="0"/>
              <a:t>Home Service Eligibility</a:t>
            </a:r>
            <a:r>
              <a:rPr lang="en-AE" sz="1700" dirty="0"/>
              <a:t> of the selected model.</a:t>
            </a:r>
          </a:p>
          <a:p>
            <a:pPr>
              <a:buNone/>
            </a:pPr>
            <a:r>
              <a:rPr lang="en-AE" sz="1700" b="1" dirty="0"/>
              <a:t>If eligible</a:t>
            </a:r>
          </a:p>
          <a:p>
            <a:pPr>
              <a:buNone/>
            </a:pPr>
            <a:r>
              <a:rPr lang="en-AE" sz="1700" dirty="0"/>
              <a:t>Continue registration.</a:t>
            </a:r>
          </a:p>
          <a:p>
            <a:pPr>
              <a:buNone/>
            </a:pPr>
            <a:r>
              <a:rPr lang="en-AE" sz="1700" b="1" dirty="0"/>
              <a:t>If not eligible</a:t>
            </a:r>
          </a:p>
          <a:p>
            <a:pPr>
              <a:buNone/>
            </a:pPr>
            <a:r>
              <a:rPr lang="en-AE" sz="1700" dirty="0"/>
              <a:t>Bot informs the customer:</a:t>
            </a:r>
          </a:p>
          <a:p>
            <a:pPr>
              <a:buNone/>
            </a:pPr>
            <a:r>
              <a:rPr lang="en-AE" sz="1700" b="1" dirty="0"/>
              <a:t>This model is currently not eligible for home-service registration.</a:t>
            </a:r>
            <a:endParaRPr lang="en-AE" sz="1700" dirty="0"/>
          </a:p>
          <a:p>
            <a:pPr>
              <a:buNone/>
            </a:pPr>
            <a:r>
              <a:rPr lang="en-AE" sz="1700" dirty="0"/>
              <a:t>Please give the complaint product to nearest service center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E8F2C-414D-23CA-9D5D-2C60946A39BA}"/>
              </a:ext>
            </a:extLst>
          </p:cNvPr>
          <p:cNvSpPr txBox="1"/>
          <p:nvPr/>
        </p:nvSpPr>
        <p:spPr>
          <a:xfrm>
            <a:off x="6482442" y="0"/>
            <a:ext cx="430374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4. Collect Customer Information</a:t>
            </a:r>
          </a:p>
          <a:p>
            <a:pPr>
              <a:buNone/>
            </a:pPr>
            <a:r>
              <a:rPr lang="en-AE" dirty="0"/>
              <a:t>The bot collects: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Customer Name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WhatsApp/Primary Mobile Number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Alternate Mobile Number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Complete Address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City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Area/Location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Product Group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Model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Product/Model/Serial Number image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Product image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Date of Purchase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E" dirty="0"/>
              <a:t>Complaint details </a:t>
            </a:r>
          </a:p>
          <a:p>
            <a:pPr>
              <a:buNone/>
            </a:pPr>
            <a:r>
              <a:rPr lang="en-AE" dirty="0"/>
              <a:t>The WhatsApp number should preferably be captured automatically.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1D5694-ACF4-EEFC-88AF-5F732EB193FF}"/>
              </a:ext>
            </a:extLst>
          </p:cNvPr>
          <p:cNvSpPr txBox="1"/>
          <p:nvPr/>
        </p:nvSpPr>
        <p:spPr>
          <a:xfrm>
            <a:off x="6482442" y="4643354"/>
            <a:ext cx="40144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5. Warranty Status</a:t>
            </a:r>
          </a:p>
          <a:p>
            <a:pPr>
              <a:buNone/>
            </a:pPr>
            <a:r>
              <a:rPr lang="en-AE" dirty="0"/>
              <a:t>Customer enters:</a:t>
            </a:r>
          </a:p>
          <a:p>
            <a:pPr>
              <a:buNone/>
            </a:pPr>
            <a:r>
              <a:rPr lang="en-AE" b="1" dirty="0"/>
              <a:t>DOP – DD/MM/YYYY</a:t>
            </a:r>
            <a:endParaRPr lang="en-AE" dirty="0"/>
          </a:p>
          <a:p>
            <a:pPr>
              <a:buNone/>
            </a:pPr>
            <a:r>
              <a:rPr lang="en-AE" dirty="0"/>
              <a:t>The system automatically determines:</a:t>
            </a:r>
          </a:p>
          <a:p>
            <a:pPr>
              <a:buNone/>
            </a:pPr>
            <a:r>
              <a:rPr lang="en-AE" b="1" dirty="0"/>
              <a:t>IN WARRANTY</a:t>
            </a:r>
          </a:p>
          <a:p>
            <a:pPr>
              <a:buNone/>
            </a:pPr>
            <a:r>
              <a:rPr lang="en-AE" dirty="0"/>
              <a:t>or</a:t>
            </a:r>
          </a:p>
          <a:p>
            <a:pPr>
              <a:buNone/>
            </a:pPr>
            <a:r>
              <a:rPr lang="en-AE" b="1" dirty="0"/>
              <a:t>OUT OF WARRANTY</a:t>
            </a:r>
          </a:p>
        </p:txBody>
      </p:sp>
    </p:spTree>
    <p:extLst>
      <p:ext uri="{BB962C8B-B14F-4D97-AF65-F5344CB8AC3E}">
        <p14:creationId xmlns:p14="http://schemas.microsoft.com/office/powerpoint/2010/main" val="188123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3CADA-6161-A55C-1593-B8427DC3B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CBC253-00D5-769F-D559-FFB9C466B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DE2D45-D11B-53A9-FC33-23D0764F2A18}"/>
              </a:ext>
            </a:extLst>
          </p:cNvPr>
          <p:cNvSpPr txBox="1"/>
          <p:nvPr/>
        </p:nvSpPr>
        <p:spPr>
          <a:xfrm>
            <a:off x="364672" y="1028343"/>
            <a:ext cx="57313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6. IN-WARRANTY Process</a:t>
            </a:r>
          </a:p>
          <a:p>
            <a:pPr>
              <a:buNone/>
            </a:pPr>
            <a:r>
              <a:rPr lang="en-AE" dirty="0"/>
              <a:t>If the product is </a:t>
            </a:r>
            <a:r>
              <a:rPr lang="en-AE" b="1" dirty="0"/>
              <a:t>In Warranty</a:t>
            </a:r>
            <a:r>
              <a:rPr lang="en-AE" dirty="0"/>
              <a:t>:</a:t>
            </a:r>
          </a:p>
          <a:p>
            <a:pPr>
              <a:buNone/>
            </a:pPr>
            <a:r>
              <a:rPr lang="en-AE" dirty="0"/>
              <a:t>Bot:</a:t>
            </a:r>
          </a:p>
          <a:p>
            <a:pPr>
              <a:buNone/>
            </a:pPr>
            <a:r>
              <a:rPr lang="en-AE" b="1" dirty="0"/>
              <a:t>Your product is identified as In Warranty.</a:t>
            </a:r>
            <a:endParaRPr lang="en-AE" dirty="0"/>
          </a:p>
          <a:p>
            <a:pPr>
              <a:buNone/>
            </a:pPr>
            <a:r>
              <a:rPr lang="en-AE" dirty="0"/>
              <a:t>Please upload a clear copy of your purchase invoice for warranty verification.</a:t>
            </a:r>
          </a:p>
          <a:p>
            <a:pPr>
              <a:buNone/>
            </a:pPr>
            <a:r>
              <a:rPr lang="en-AE" dirty="0"/>
              <a:t>Customer uploads invoice.</a:t>
            </a:r>
          </a:p>
          <a:p>
            <a:pPr>
              <a:buNone/>
            </a:pPr>
            <a:r>
              <a:rPr lang="en-AE" dirty="0"/>
              <a:t>Once all mandatory information is successfully collected:</a:t>
            </a:r>
          </a:p>
          <a:p>
            <a:pPr>
              <a:buNone/>
            </a:pPr>
            <a:r>
              <a:rPr lang="en-AE" b="1" dirty="0"/>
              <a:t>UID is generated immediately.</a:t>
            </a:r>
          </a:p>
          <a:p>
            <a:pPr>
              <a:buNone/>
            </a:pPr>
            <a:r>
              <a:rPr lang="en-AE" dirty="0"/>
              <a:t>The customer receives:</a:t>
            </a:r>
          </a:p>
          <a:p>
            <a:pPr>
              <a:buNone/>
            </a:pPr>
            <a:r>
              <a:rPr lang="en-AE" b="1" dirty="0"/>
              <a:t>Thank you for registering your service request with us.</a:t>
            </a:r>
            <a:endParaRPr lang="en-AE" dirty="0"/>
          </a:p>
          <a:p>
            <a:pPr>
              <a:buNone/>
            </a:pPr>
            <a:r>
              <a:rPr lang="en-AE" dirty="0"/>
              <a:t>Your complaint has been successfully registered.</a:t>
            </a:r>
          </a:p>
          <a:p>
            <a:pPr>
              <a:buNone/>
            </a:pPr>
            <a:r>
              <a:rPr lang="en-AE" b="1" dirty="0"/>
              <a:t>Service UID: XXXXXXXX</a:t>
            </a:r>
            <a:endParaRPr lang="en-AE" dirty="0"/>
          </a:p>
          <a:p>
            <a:pPr>
              <a:buNone/>
            </a:pPr>
            <a:r>
              <a:rPr lang="en-AE" dirty="0"/>
              <a:t>Please keep this UID safely for future reference.</a:t>
            </a:r>
          </a:p>
          <a:p>
            <a:pPr>
              <a:buNone/>
            </a:pPr>
            <a:r>
              <a:rPr lang="en-AE" dirty="0"/>
              <a:t>Our service team will verify your request and contact you regarding the service visit.</a:t>
            </a:r>
          </a:p>
          <a:p>
            <a:pPr>
              <a:buNone/>
            </a:pPr>
            <a:r>
              <a:rPr lang="en-AE" b="1" dirty="0"/>
              <a:t>Thank you for choosing us.</a:t>
            </a:r>
          </a:p>
          <a:p>
            <a:r>
              <a:rPr lang="en-AE" b="1" dirty="0"/>
              <a:t>Have a great day!</a:t>
            </a:r>
            <a:endParaRPr lang="en-AE" dirty="0"/>
          </a:p>
          <a:p>
            <a:r>
              <a:rPr lang="en-AE" b="1" dirty="0"/>
              <a:t>Then the WhatsApp chat is closed.</a:t>
            </a:r>
          </a:p>
          <a:p>
            <a:pPr>
              <a:buNone/>
            </a:pPr>
            <a:endParaRPr lang="en-A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018432-D892-1026-019F-A8FE94ABE964}"/>
              </a:ext>
            </a:extLst>
          </p:cNvPr>
          <p:cNvSpPr txBox="1"/>
          <p:nvPr/>
        </p:nvSpPr>
        <p:spPr>
          <a:xfrm>
            <a:off x="6174533" y="1997839"/>
            <a:ext cx="56527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7. OUT-OF-WARRANTY Process</a:t>
            </a:r>
          </a:p>
          <a:p>
            <a:pPr>
              <a:buNone/>
            </a:pPr>
            <a:r>
              <a:rPr lang="en-AE" dirty="0"/>
              <a:t>If the product is </a:t>
            </a:r>
            <a:r>
              <a:rPr lang="en-AE" b="1" dirty="0"/>
              <a:t>Out of Warranty</a:t>
            </a:r>
            <a:r>
              <a:rPr lang="en-AE" dirty="0"/>
              <a:t>, the bot displays the applicable inspection charge.</a:t>
            </a:r>
          </a:p>
          <a:p>
            <a:pPr>
              <a:buNone/>
            </a:pPr>
            <a:r>
              <a:rPr lang="en-AE" dirty="0"/>
              <a:t>Example:</a:t>
            </a:r>
          </a:p>
          <a:p>
            <a:pPr>
              <a:buNone/>
            </a:pPr>
            <a:r>
              <a:rPr lang="en-AE" b="1" dirty="0"/>
              <a:t>Your product is currently Out of Warranty.</a:t>
            </a:r>
            <a:endParaRPr lang="en-AE" dirty="0"/>
          </a:p>
          <a:p>
            <a:pPr>
              <a:buNone/>
            </a:pPr>
            <a:r>
              <a:rPr lang="en-AE" dirty="0"/>
              <a:t>An inspection/service charge of </a:t>
            </a:r>
            <a:r>
              <a:rPr lang="en-AE" b="1" dirty="0"/>
              <a:t>SAR XXX</a:t>
            </a:r>
            <a:r>
              <a:rPr lang="en-AE" dirty="0"/>
              <a:t> will be applicable.</a:t>
            </a:r>
          </a:p>
          <a:p>
            <a:pPr>
              <a:buNone/>
            </a:pPr>
            <a:r>
              <a:rPr lang="en-AE" dirty="0"/>
              <a:t>Would you like to proceed?</a:t>
            </a:r>
          </a:p>
          <a:p>
            <a:pPr>
              <a:buNone/>
            </a:pPr>
            <a:r>
              <a:rPr lang="en-AE" b="1" dirty="0"/>
              <a:t>1️⃣ Yes – Proceed with Service</a:t>
            </a:r>
            <a:endParaRPr lang="en-AE" dirty="0"/>
          </a:p>
          <a:p>
            <a:pPr>
              <a:buNone/>
            </a:pPr>
            <a:r>
              <a:rPr lang="en-AE" b="1" dirty="0"/>
              <a:t>2️⃣ No – I don't want to pay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23329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4FE9C-7C43-2574-8740-29385E6B4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B24C53E-4B72-D937-4BAB-D8973D4CD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75846A-9702-EA96-9D83-4A25E1F1236F}"/>
              </a:ext>
            </a:extLst>
          </p:cNvPr>
          <p:cNvSpPr txBox="1"/>
          <p:nvPr/>
        </p:nvSpPr>
        <p:spPr>
          <a:xfrm>
            <a:off x="286917" y="751344"/>
            <a:ext cx="476094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8. OW – Customer Agrees to Pay</a:t>
            </a:r>
          </a:p>
          <a:p>
            <a:pPr>
              <a:buNone/>
            </a:pPr>
            <a:r>
              <a:rPr lang="en-AE" dirty="0"/>
              <a:t>Customer selects:</a:t>
            </a:r>
          </a:p>
          <a:p>
            <a:pPr>
              <a:buNone/>
            </a:pPr>
            <a:r>
              <a:rPr lang="en-AE" b="1" dirty="0"/>
              <a:t>1️⃣ Yes – Proceed with Service</a:t>
            </a:r>
            <a:endParaRPr lang="en-AE" dirty="0"/>
          </a:p>
          <a:p>
            <a:pPr>
              <a:buNone/>
            </a:pPr>
            <a:r>
              <a:rPr lang="en-AE" dirty="0"/>
              <a:t>If payment is required at this stage:</a:t>
            </a:r>
          </a:p>
          <a:p>
            <a:pPr>
              <a:buNone/>
            </a:pPr>
            <a:r>
              <a:rPr lang="en-AE" b="1" dirty="0"/>
              <a:t>Payment process → Payment confirmation</a:t>
            </a:r>
            <a:endParaRPr lang="en-AE" dirty="0"/>
          </a:p>
          <a:p>
            <a:pPr>
              <a:buNone/>
            </a:pPr>
            <a:r>
              <a:rPr lang="en-AE" dirty="0"/>
              <a:t>Once the required confirmation/payment condition is fulfilled:</a:t>
            </a:r>
          </a:p>
          <a:p>
            <a:pPr>
              <a:buNone/>
            </a:pPr>
            <a:r>
              <a:rPr lang="en-AE" b="1" dirty="0"/>
              <a:t>UID is generated immediately.</a:t>
            </a:r>
          </a:p>
          <a:p>
            <a:pPr>
              <a:buNone/>
            </a:pPr>
            <a:r>
              <a:rPr lang="en-AE" dirty="0"/>
              <a:t>Bot sends:</a:t>
            </a:r>
          </a:p>
          <a:p>
            <a:pPr>
              <a:buNone/>
            </a:pPr>
            <a:r>
              <a:rPr lang="en-AE" b="1" dirty="0"/>
              <a:t>Thank you for confirming the service request.</a:t>
            </a:r>
            <a:endParaRPr lang="en-AE" dirty="0"/>
          </a:p>
          <a:p>
            <a:pPr>
              <a:buNone/>
            </a:pPr>
            <a:r>
              <a:rPr lang="en-AE" dirty="0"/>
              <a:t>Your service request has been successfully registered.</a:t>
            </a:r>
          </a:p>
          <a:p>
            <a:pPr>
              <a:buNone/>
            </a:pPr>
            <a:r>
              <a:rPr lang="en-AE" b="1" dirty="0"/>
              <a:t>Service UID: XXXXXXXX</a:t>
            </a:r>
            <a:endParaRPr lang="en-AE" dirty="0"/>
          </a:p>
          <a:p>
            <a:pPr>
              <a:buNone/>
            </a:pPr>
            <a:r>
              <a:rPr lang="en-AE" dirty="0"/>
              <a:t>Please keep this UID safely for future reference.</a:t>
            </a:r>
          </a:p>
          <a:p>
            <a:pPr>
              <a:buNone/>
            </a:pPr>
            <a:r>
              <a:rPr lang="en-AE" dirty="0"/>
              <a:t>Our service team will verify your request and contact you regarding the service visit.</a:t>
            </a:r>
          </a:p>
          <a:p>
            <a:pPr>
              <a:buNone/>
            </a:pPr>
            <a:r>
              <a:rPr lang="en-AE" b="1" dirty="0"/>
              <a:t>Thank you for choosing Impex.</a:t>
            </a:r>
            <a:endParaRPr lang="en-AE" dirty="0"/>
          </a:p>
          <a:p>
            <a:pPr>
              <a:buNone/>
            </a:pPr>
            <a:r>
              <a:rPr lang="en-AE" b="1" dirty="0"/>
              <a:t>Have a great day!</a:t>
            </a:r>
            <a:endParaRPr lang="en-AE" dirty="0"/>
          </a:p>
          <a:p>
            <a:pPr>
              <a:buNone/>
            </a:pPr>
            <a:r>
              <a:rPr lang="en-AE" b="1" dirty="0"/>
              <a:t>Chat closes.</a:t>
            </a: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39FC0D-A3EB-6934-D228-BD8273A99394}"/>
              </a:ext>
            </a:extLst>
          </p:cNvPr>
          <p:cNvSpPr txBox="1"/>
          <p:nvPr/>
        </p:nvSpPr>
        <p:spPr>
          <a:xfrm>
            <a:off x="5597725" y="636754"/>
            <a:ext cx="609755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9. OW – Customer Initially Does Not Want to Pay</a:t>
            </a:r>
          </a:p>
          <a:p>
            <a:pPr>
              <a:buNone/>
            </a:pPr>
            <a:r>
              <a:rPr lang="en-AE" dirty="0"/>
              <a:t>Don't immediately close the customer.</a:t>
            </a:r>
          </a:p>
          <a:p>
            <a:pPr>
              <a:buNone/>
            </a:pPr>
            <a:r>
              <a:rPr lang="en-AE" dirty="0"/>
              <a:t>Customer selects:</a:t>
            </a:r>
          </a:p>
          <a:p>
            <a:pPr>
              <a:buNone/>
            </a:pPr>
            <a:r>
              <a:rPr lang="en-AE" b="1" dirty="0"/>
              <a:t>2️⃣ No – I don't want to pay</a:t>
            </a:r>
            <a:endParaRPr lang="en-AE" dirty="0"/>
          </a:p>
          <a:p>
            <a:pPr>
              <a:buNone/>
            </a:pPr>
            <a:r>
              <a:rPr lang="en-AE" dirty="0"/>
              <a:t>The bot should make </a:t>
            </a:r>
            <a:r>
              <a:rPr lang="en-AE" b="1" dirty="0"/>
              <a:t>one controlled conversion attempt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For example:</a:t>
            </a:r>
          </a:p>
          <a:p>
            <a:pPr>
              <a:buNone/>
            </a:pPr>
            <a:r>
              <a:rPr lang="en-AE" b="1" dirty="0"/>
              <a:t>We understand your concern.</a:t>
            </a:r>
            <a:endParaRPr lang="en-AE" dirty="0"/>
          </a:p>
          <a:p>
            <a:pPr>
              <a:buNone/>
            </a:pPr>
            <a:r>
              <a:rPr lang="en-AE" dirty="0"/>
              <a:t>Since this is an Out-of-Warranty service request, an inspection charge is applicable.</a:t>
            </a:r>
          </a:p>
          <a:p>
            <a:pPr>
              <a:buNone/>
            </a:pPr>
            <a:r>
              <a:rPr lang="en-AE" dirty="0"/>
              <a:t>Our technician will inspect the product and advise you regarding the required service/repair.</a:t>
            </a:r>
          </a:p>
          <a:p>
            <a:pPr>
              <a:buNone/>
            </a:pPr>
            <a:r>
              <a:rPr lang="en-AE" b="1" dirty="0"/>
              <a:t>Would you like to proceed with the service by paying the applicable inspection charge?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b="1" dirty="0"/>
              <a:t>1️⃣ Yes – Proceed</a:t>
            </a:r>
            <a:endParaRPr lang="en-AE" dirty="0"/>
          </a:p>
          <a:p>
            <a:pPr>
              <a:buNone/>
            </a:pPr>
            <a:r>
              <a:rPr lang="en-AE" b="1" dirty="0"/>
              <a:t>2️⃣ No – Cancel Service Request</a:t>
            </a:r>
            <a:endParaRPr lang="en-AE" dirty="0"/>
          </a:p>
          <a:p>
            <a:pPr>
              <a:buNone/>
            </a:pPr>
            <a:r>
              <a:rPr lang="en-AE" dirty="0"/>
              <a:t>If the customer changes their decision: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b="1" dirty="0"/>
              <a:t>YES → payment/confirmation → UID generated → successful registration message → chat closed.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30163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7CDA-CDE4-2553-5CEE-B551E3BB6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FEA4A6-B463-9E3C-2DEB-9E37BB280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E5C20F-3158-1552-F8E6-4A1F17B74A0C}"/>
              </a:ext>
            </a:extLst>
          </p:cNvPr>
          <p:cNvSpPr txBox="1"/>
          <p:nvPr/>
        </p:nvSpPr>
        <p:spPr>
          <a:xfrm>
            <a:off x="333569" y="796538"/>
            <a:ext cx="566601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10. OW – Customer Still Refuses</a:t>
            </a:r>
          </a:p>
          <a:p>
            <a:pPr>
              <a:buNone/>
            </a:pPr>
            <a:r>
              <a:rPr lang="en-AE" dirty="0"/>
              <a:t>If the customer again selects:</a:t>
            </a:r>
          </a:p>
          <a:p>
            <a:pPr>
              <a:buNone/>
            </a:pPr>
            <a:r>
              <a:rPr lang="en-AE" b="1" dirty="0"/>
              <a:t>2️⃣ No – Cancel Service Request</a:t>
            </a:r>
            <a:endParaRPr lang="en-AE" dirty="0"/>
          </a:p>
          <a:p>
            <a:pPr>
              <a:buNone/>
            </a:pPr>
            <a:r>
              <a:rPr lang="en-AE" dirty="0"/>
              <a:t>Then:</a:t>
            </a:r>
          </a:p>
          <a:p>
            <a:pPr>
              <a:buNone/>
            </a:pPr>
            <a:r>
              <a:rPr lang="en-AE" b="1" dirty="0"/>
              <a:t>Thank you for contacting Impex Service.</a:t>
            </a:r>
            <a:endParaRPr lang="en-AE" dirty="0"/>
          </a:p>
          <a:p>
            <a:pPr>
              <a:buNone/>
            </a:pPr>
            <a:r>
              <a:rPr lang="en-AE" dirty="0"/>
              <a:t>Your request has been cancelled as you have chosen not to proceed with the applicable Out-of-Warranty inspection charge.</a:t>
            </a:r>
          </a:p>
          <a:p>
            <a:pPr>
              <a:buNone/>
            </a:pPr>
            <a:r>
              <a:rPr lang="en-AE" b="1" dirty="0"/>
              <a:t>Cancellation Reason: OW – Customer Not Willing to Pay</a:t>
            </a:r>
            <a:endParaRPr lang="en-AE" dirty="0"/>
          </a:p>
          <a:p>
            <a:pPr>
              <a:buNone/>
            </a:pPr>
            <a:r>
              <a:rPr lang="en-AE" dirty="0"/>
              <a:t>“You may contact us again if you wish to proceed with the service”.</a:t>
            </a:r>
          </a:p>
          <a:p>
            <a:pPr>
              <a:buNone/>
            </a:pPr>
            <a:r>
              <a:rPr lang="en-AE" b="1" dirty="0"/>
              <a:t>Thank you and have a great day.</a:t>
            </a:r>
            <a:endParaRPr lang="en-AE" dirty="0"/>
          </a:p>
          <a:p>
            <a:pPr>
              <a:buNone/>
            </a:pPr>
            <a:r>
              <a:rPr lang="en-AE" dirty="0"/>
              <a:t>No UID should be generated for a cancelled request.</a:t>
            </a:r>
          </a:p>
          <a:p>
            <a:pPr>
              <a:buNone/>
            </a:pPr>
            <a:r>
              <a:rPr lang="en-AE" dirty="0"/>
              <a:t>However, </a:t>
            </a:r>
            <a:r>
              <a:rPr lang="en-AE" b="1" dirty="0"/>
              <a:t>the enquiry should still be recorded in the backend data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This is important because management can later see how many OW enquiries were lost because customers refused the charge.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B1D67-0823-C220-3A36-6948663FAB59}"/>
              </a:ext>
            </a:extLst>
          </p:cNvPr>
          <p:cNvSpPr txBox="1"/>
          <p:nvPr/>
        </p:nvSpPr>
        <p:spPr>
          <a:xfrm>
            <a:off x="6864999" y="519538"/>
            <a:ext cx="420110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E" sz="1300" b="1" dirty="0"/>
              <a:t>11. Backend India Staff Process</a:t>
            </a:r>
          </a:p>
          <a:p>
            <a:pPr algn="ctr">
              <a:buNone/>
            </a:pPr>
            <a:r>
              <a:rPr lang="en-AE" sz="1300" dirty="0"/>
              <a:t>This is the key sequence after the WhatsApp registration.</a:t>
            </a:r>
          </a:p>
          <a:p>
            <a:pPr algn="ctr">
              <a:buNone/>
            </a:pPr>
            <a:r>
              <a:rPr lang="en-AE" sz="1300" b="1" dirty="0"/>
              <a:t>WhatsApp Bot</a:t>
            </a:r>
          </a:p>
          <a:p>
            <a:pPr algn="ctr">
              <a:buNone/>
            </a:pPr>
            <a:r>
              <a:rPr lang="en-AE" sz="1300" b="1" dirty="0"/>
              <a:t>Collects all information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Checks IW / OW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Customer accepts required conditions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UID generated immediately</a:t>
            </a:r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UID sent to customer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WhatsApp chat closed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Backend India Staff</a:t>
            </a:r>
          </a:p>
          <a:p>
            <a:pPr algn="ctr">
              <a:buNone/>
            </a:pPr>
            <a:r>
              <a:rPr lang="en-AE" sz="1300" b="1" dirty="0"/>
              <a:t>Receives complete data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Verifies all information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Records/registers case in Service CRM using the same UID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Service CRM registration completed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Service Team</a:t>
            </a:r>
          </a:p>
          <a:p>
            <a:pPr algn="ctr">
              <a:buNone/>
            </a:pPr>
            <a:r>
              <a:rPr lang="en-AE" sz="1300" b="1" dirty="0"/>
              <a:t>Service person receives the case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Service person calls customer</a:t>
            </a:r>
            <a:endParaRPr lang="en-AE" sz="1300" dirty="0"/>
          </a:p>
          <a:p>
            <a:pPr algn="ctr">
              <a:buNone/>
            </a:pPr>
            <a:r>
              <a:rPr lang="en-AE" sz="1300" dirty="0"/>
              <a:t>↓</a:t>
            </a:r>
          </a:p>
          <a:p>
            <a:pPr algn="ctr">
              <a:buNone/>
            </a:pPr>
            <a:r>
              <a:rPr lang="en-AE" sz="1300" b="1" dirty="0"/>
              <a:t>Service visit / inspection / repair</a:t>
            </a:r>
            <a:endParaRPr lang="en-AE" sz="1300" dirty="0"/>
          </a:p>
        </p:txBody>
      </p:sp>
    </p:spTree>
    <p:extLst>
      <p:ext uri="{BB962C8B-B14F-4D97-AF65-F5344CB8AC3E}">
        <p14:creationId xmlns:p14="http://schemas.microsoft.com/office/powerpoint/2010/main" val="122328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C88C3-55BD-B55F-2CD7-8D011E89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361D11-671D-A339-DAC0-3687C62CE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E20E58-0782-7493-AB9F-C1D0EA4CE766}"/>
              </a:ext>
            </a:extLst>
          </p:cNvPr>
          <p:cNvSpPr txBox="1"/>
          <p:nvPr/>
        </p:nvSpPr>
        <p:spPr>
          <a:xfrm>
            <a:off x="193611" y="1042625"/>
            <a:ext cx="49288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12. Important Difference Between UID and CRM Registration</a:t>
            </a:r>
          </a:p>
          <a:p>
            <a:pPr>
              <a:buNone/>
            </a:pPr>
            <a:r>
              <a:rPr lang="en-AE" dirty="0"/>
              <a:t>I would clearly explain this to management and the developer:</a:t>
            </a:r>
          </a:p>
          <a:p>
            <a:pPr>
              <a:buNone/>
            </a:pPr>
            <a:r>
              <a:rPr lang="en-AE" b="1" dirty="0"/>
              <a:t>UID generation and CRM registration are two separate activities.</a:t>
            </a:r>
            <a:endParaRPr lang="en-AE" dirty="0"/>
          </a:p>
          <a:p>
            <a:pPr>
              <a:buNone/>
            </a:pPr>
            <a:r>
              <a:rPr lang="en-AE" b="1" dirty="0"/>
              <a:t>UID</a:t>
            </a:r>
          </a:p>
          <a:p>
            <a:pPr>
              <a:buNone/>
            </a:pPr>
            <a:r>
              <a:rPr lang="en-AE" dirty="0"/>
              <a:t>Generated by the WhatsApp registration process </a:t>
            </a:r>
            <a:r>
              <a:rPr lang="en-AE" b="1" dirty="0"/>
              <a:t>immediately after successful customer registration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b="1" dirty="0"/>
              <a:t>CRM Registration</a:t>
            </a:r>
          </a:p>
          <a:p>
            <a:pPr>
              <a:buNone/>
            </a:pPr>
            <a:r>
              <a:rPr lang="en-AE" dirty="0"/>
              <a:t>Performed by the </a:t>
            </a:r>
            <a:r>
              <a:rPr lang="en-AE" b="1" dirty="0"/>
              <a:t>India backend staff</a:t>
            </a:r>
            <a:r>
              <a:rPr lang="en-AE" dirty="0"/>
              <a:t> after receiving and verifying the complete data.</a:t>
            </a:r>
          </a:p>
          <a:p>
            <a:pPr>
              <a:buNone/>
            </a:pPr>
            <a:r>
              <a:rPr lang="en-AE" dirty="0"/>
              <a:t>The </a:t>
            </a:r>
            <a:r>
              <a:rPr lang="en-AE" b="1" dirty="0"/>
              <a:t>same UID generated by the WhatsApp system must be carried into the Service CRM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This prevents the customer from waiting for the backend team to complete CRM entry before receiving a reference number.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C84B4-0CD6-FEF0-6F27-487F40857677}"/>
              </a:ext>
            </a:extLst>
          </p:cNvPr>
          <p:cNvSpPr txBox="1"/>
          <p:nvPr/>
        </p:nvSpPr>
        <p:spPr>
          <a:xfrm>
            <a:off x="5526834" y="380644"/>
            <a:ext cx="609755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E" sz="1400" b="1" u="sng" dirty="0"/>
              <a:t>13. PROPOSED WHATSAPP PROCESS</a:t>
            </a:r>
          </a:p>
          <a:p>
            <a:pPr algn="ctr">
              <a:buNone/>
            </a:pPr>
            <a:r>
              <a:rPr lang="en-AE" sz="1400" b="1" dirty="0"/>
              <a:t>Customer sends "REG"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Customer Complaint Registration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Product + Model Selection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Home-Service Eligibility Check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Customer &amp; Product Details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DOP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Automatic IW / OW Identification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IW</a:t>
            </a:r>
          </a:p>
          <a:p>
            <a:pPr algn="ctr">
              <a:buNone/>
            </a:pPr>
            <a:r>
              <a:rPr lang="en-AE" sz="1400" b="1" dirty="0"/>
              <a:t>Invoice → UID → Customer</a:t>
            </a:r>
            <a:endParaRPr lang="en-AE" sz="1400" dirty="0"/>
          </a:p>
          <a:p>
            <a:pPr algn="ctr">
              <a:buNone/>
            </a:pPr>
            <a:r>
              <a:rPr lang="en-AE" sz="1400" b="1" dirty="0"/>
              <a:t>OW</a:t>
            </a:r>
          </a:p>
          <a:p>
            <a:pPr algn="ctr">
              <a:buNone/>
            </a:pPr>
            <a:r>
              <a:rPr lang="en-AE" sz="1400" b="1" dirty="0"/>
              <a:t>Charge → Customer Acceptance/Payment → UID → Customer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WhatsApp Chat Closed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Complete data transferred to India Backend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India Staff verifies &amp; registers in Service CRM using same UID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Service person receives case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Service person calls customer</a:t>
            </a: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192273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200B3-E2D8-0A83-664A-183C1479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8CD1BB-C4B4-9C1E-0DB4-86B670FA5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78E26C-AAD0-31EB-94D5-3CFE11C34BA7}"/>
              </a:ext>
            </a:extLst>
          </p:cNvPr>
          <p:cNvSpPr txBox="1"/>
          <p:nvPr/>
        </p:nvSpPr>
        <p:spPr>
          <a:xfrm>
            <a:off x="3459325" y="195978"/>
            <a:ext cx="4900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E" b="1" u="sng" dirty="0"/>
              <a:t>OPTION 3 – CUSTOMER FEEDBACK USING UID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EDE986-B46B-03DA-70DD-2DD152C52851}"/>
              </a:ext>
            </a:extLst>
          </p:cNvPr>
          <p:cNvSpPr txBox="1"/>
          <p:nvPr/>
        </p:nvSpPr>
        <p:spPr>
          <a:xfrm>
            <a:off x="314908" y="871755"/>
            <a:ext cx="372524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1. Customer selects Option 3</a:t>
            </a:r>
          </a:p>
          <a:p>
            <a:pPr>
              <a:buNone/>
            </a:pPr>
            <a:r>
              <a:rPr lang="en-AE" dirty="0"/>
              <a:t>Customer sends:</a:t>
            </a:r>
          </a:p>
          <a:p>
            <a:pPr>
              <a:buNone/>
            </a:pPr>
            <a:r>
              <a:rPr lang="en-AE" b="1" dirty="0"/>
              <a:t>REG</a:t>
            </a:r>
            <a:endParaRPr lang="en-AE" dirty="0"/>
          </a:p>
          <a:p>
            <a:pPr>
              <a:buNone/>
            </a:pPr>
            <a:r>
              <a:rPr lang="en-AE" dirty="0"/>
              <a:t>Bot displays:</a:t>
            </a:r>
          </a:p>
          <a:p>
            <a:pPr>
              <a:buNone/>
            </a:pPr>
            <a:r>
              <a:rPr lang="en-AE" b="1" dirty="0"/>
              <a:t>Welcome to Impex Service</a:t>
            </a:r>
            <a:endParaRPr lang="en-AE" dirty="0"/>
          </a:p>
          <a:p>
            <a:pPr>
              <a:buNone/>
            </a:pPr>
            <a:r>
              <a:rPr lang="en-AE" dirty="0"/>
              <a:t>Please select the required option:</a:t>
            </a:r>
          </a:p>
          <a:p>
            <a:pPr>
              <a:buNone/>
            </a:pPr>
            <a:r>
              <a:rPr lang="en-AE" b="1" dirty="0"/>
              <a:t>1️⃣ Dealer Pick-up Registration</a:t>
            </a:r>
            <a:br>
              <a:rPr lang="en-AE" dirty="0"/>
            </a:br>
            <a:r>
              <a:rPr lang="en-AE" b="1" dirty="0"/>
              <a:t>2️⃣ Customer Complaint Registration</a:t>
            </a:r>
            <a:br>
              <a:rPr lang="en-AE" dirty="0"/>
            </a:br>
            <a:r>
              <a:rPr lang="en-AE" b="1" dirty="0"/>
              <a:t>3️⃣ Rate Our Service</a:t>
            </a:r>
            <a:endParaRPr lang="en-AE" dirty="0"/>
          </a:p>
          <a:p>
            <a:pPr>
              <a:buNone/>
            </a:pPr>
            <a:r>
              <a:rPr lang="en-AE" dirty="0"/>
              <a:t>Please reply with </a:t>
            </a:r>
            <a:r>
              <a:rPr lang="en-AE" b="1" dirty="0"/>
              <a:t>1, 2 or 3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Customer selects:</a:t>
            </a:r>
          </a:p>
          <a:p>
            <a:pPr>
              <a:buNone/>
            </a:pPr>
            <a:r>
              <a:rPr lang="en-AE" b="1" dirty="0"/>
              <a:t>3️⃣ Rate Our Service</a:t>
            </a:r>
            <a:endParaRPr lang="en-A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C91536-59A7-4C02-D66C-74FFA9B3CF69}"/>
              </a:ext>
            </a:extLst>
          </p:cNvPr>
          <p:cNvSpPr txBox="1"/>
          <p:nvPr/>
        </p:nvSpPr>
        <p:spPr>
          <a:xfrm>
            <a:off x="314908" y="4438080"/>
            <a:ext cx="42197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2. Ask for UID</a:t>
            </a:r>
          </a:p>
          <a:p>
            <a:pPr>
              <a:buNone/>
            </a:pPr>
            <a:r>
              <a:rPr lang="en-AE" dirty="0"/>
              <a:t>Bot:</a:t>
            </a:r>
          </a:p>
          <a:p>
            <a:pPr>
              <a:buNone/>
            </a:pPr>
            <a:r>
              <a:rPr lang="en-AE" b="1" dirty="0"/>
              <a:t>Thank you for choosing Impex Service.</a:t>
            </a:r>
            <a:endParaRPr lang="en-AE" dirty="0"/>
          </a:p>
          <a:p>
            <a:pPr>
              <a:buNone/>
            </a:pPr>
            <a:r>
              <a:rPr lang="en-AE" dirty="0"/>
              <a:t>To provide feedback about your completed service request, please enter your </a:t>
            </a:r>
            <a:r>
              <a:rPr lang="en-AE" b="1" dirty="0"/>
              <a:t>Service UID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Example: </a:t>
            </a:r>
            <a:r>
              <a:rPr lang="en-AE" b="1" dirty="0"/>
              <a:t>SA2608040001</a:t>
            </a:r>
            <a:endParaRPr lang="en-AE" dirty="0"/>
          </a:p>
          <a:p>
            <a:pPr>
              <a:buNone/>
            </a:pPr>
            <a:r>
              <a:rPr lang="en-AE" dirty="0"/>
              <a:t>Customer enters UID.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67B76-7F70-DFDD-6F1C-EE082E4AB9C9}"/>
              </a:ext>
            </a:extLst>
          </p:cNvPr>
          <p:cNvSpPr txBox="1"/>
          <p:nvPr/>
        </p:nvSpPr>
        <p:spPr>
          <a:xfrm>
            <a:off x="5256246" y="710214"/>
            <a:ext cx="609755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3. UID Validation</a:t>
            </a:r>
          </a:p>
          <a:p>
            <a:pPr>
              <a:buNone/>
            </a:pPr>
            <a:r>
              <a:rPr lang="en-AE" dirty="0"/>
              <a:t>The bot checks the UID against the service database/backend Excel.</a:t>
            </a:r>
          </a:p>
          <a:p>
            <a:pPr>
              <a:buNone/>
            </a:pPr>
            <a:r>
              <a:rPr lang="en-AE" b="1" dirty="0"/>
              <a:t>If UID is invalid</a:t>
            </a:r>
          </a:p>
          <a:p>
            <a:pPr>
              <a:buNone/>
            </a:pPr>
            <a:r>
              <a:rPr lang="en-AE" b="1" dirty="0"/>
              <a:t>The Service UID entered could not be found.</a:t>
            </a:r>
            <a:endParaRPr lang="en-AE" dirty="0"/>
          </a:p>
          <a:p>
            <a:pPr>
              <a:buNone/>
            </a:pPr>
            <a:r>
              <a:rPr lang="en-AE" dirty="0"/>
              <a:t>Please check the UID and enter it again.</a:t>
            </a:r>
          </a:p>
          <a:p>
            <a:pPr>
              <a:buNone/>
            </a:pPr>
            <a:r>
              <a:rPr lang="en-AE" dirty="0"/>
              <a:t>Allow customer to retry.</a:t>
            </a:r>
          </a:p>
          <a:p>
            <a:pPr>
              <a:buNone/>
            </a:pPr>
            <a:r>
              <a:rPr lang="en-AE" dirty="0"/>
              <a:t>After a reasonable number of unsuccessful attempts, the bot should provide Customer Care contact information or close the interaction.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33C8A9-051A-6A3C-0F4E-AF1A138D76AE}"/>
              </a:ext>
            </a:extLst>
          </p:cNvPr>
          <p:cNvSpPr txBox="1"/>
          <p:nvPr/>
        </p:nvSpPr>
        <p:spPr>
          <a:xfrm>
            <a:off x="5311452" y="3909155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4. Check Whether Feedback Already Submitted</a:t>
            </a:r>
          </a:p>
          <a:p>
            <a:pPr>
              <a:buNone/>
            </a:pPr>
            <a:r>
              <a:rPr lang="en-AE" dirty="0"/>
              <a:t>The system checks whether feedback has already been submitted.</a:t>
            </a:r>
          </a:p>
          <a:p>
            <a:pPr>
              <a:buNone/>
            </a:pPr>
            <a:r>
              <a:rPr lang="en-AE" b="1" dirty="0"/>
              <a:t>If feedback already submitted:</a:t>
            </a:r>
          </a:p>
          <a:p>
            <a:pPr>
              <a:buNone/>
            </a:pPr>
            <a:r>
              <a:rPr lang="en-AE" b="1" dirty="0"/>
              <a:t>Feedback for this Service UID has already been received.</a:t>
            </a:r>
            <a:endParaRPr lang="en-AE" dirty="0"/>
          </a:p>
          <a:p>
            <a:pPr>
              <a:buNone/>
            </a:pPr>
            <a:r>
              <a:rPr lang="en-AE" dirty="0"/>
              <a:t>Thank you for your valuable feedback.</a:t>
            </a:r>
          </a:p>
          <a:p>
            <a:pPr>
              <a:buNone/>
            </a:pPr>
            <a:r>
              <a:rPr lang="en-AE" b="1" dirty="0"/>
              <a:t>Close chat.</a:t>
            </a:r>
            <a:endParaRPr lang="en-AE" dirty="0"/>
          </a:p>
          <a:p>
            <a:pPr>
              <a:buNone/>
            </a:pPr>
            <a:r>
              <a:rPr lang="en-AE" b="1" dirty="0"/>
              <a:t>If no feedback:</a:t>
            </a:r>
          </a:p>
          <a:p>
            <a:pPr>
              <a:buNone/>
            </a:pPr>
            <a:r>
              <a:rPr lang="en-AE" dirty="0"/>
              <a:t>Continue to questionnaire.</a:t>
            </a:r>
          </a:p>
        </p:txBody>
      </p:sp>
    </p:spTree>
    <p:extLst>
      <p:ext uri="{BB962C8B-B14F-4D97-AF65-F5344CB8AC3E}">
        <p14:creationId xmlns:p14="http://schemas.microsoft.com/office/powerpoint/2010/main" val="4108248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BD0D-AE05-348E-EE7B-F44C0F23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C68EC4-ABAE-ECD1-8804-4A95CBD77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B99D06-B86F-DBD8-8549-56DDFAEFAB63}"/>
              </a:ext>
            </a:extLst>
          </p:cNvPr>
          <p:cNvSpPr txBox="1"/>
          <p:nvPr/>
        </p:nvSpPr>
        <p:spPr>
          <a:xfrm>
            <a:off x="258925" y="1120676"/>
            <a:ext cx="57593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600" b="1" dirty="0"/>
              <a:t>Q1. Technician Behaviour</a:t>
            </a:r>
          </a:p>
          <a:p>
            <a:pPr>
              <a:buNone/>
            </a:pPr>
            <a:r>
              <a:rPr lang="en-AE" sz="1600" b="1" dirty="0"/>
              <a:t>1. How would you rate the technician's behaviour?</a:t>
            </a:r>
            <a:endParaRPr lang="en-AE" sz="1600" dirty="0"/>
          </a:p>
          <a:p>
            <a:pPr>
              <a:buNone/>
            </a:pPr>
            <a:r>
              <a:rPr lang="en-AE" sz="1600" dirty="0"/>
              <a:t>Please rate from </a:t>
            </a:r>
            <a:r>
              <a:rPr lang="en-AE" sz="1600" b="1" dirty="0"/>
              <a:t>1 to 10</a:t>
            </a:r>
            <a:br>
              <a:rPr lang="en-AE" sz="1600" dirty="0"/>
            </a:br>
            <a:r>
              <a:rPr lang="en-AE" sz="1600" dirty="0"/>
              <a:t>1 = Very Poor | 10 = Excellent</a:t>
            </a:r>
          </a:p>
          <a:p>
            <a:pPr>
              <a:buNone/>
            </a:pPr>
            <a:r>
              <a:rPr lang="en-AE" sz="1600" b="1" dirty="0"/>
              <a:t>Required: YES</a:t>
            </a:r>
            <a:br>
              <a:rPr lang="en-AE" sz="1600" dirty="0"/>
            </a:br>
            <a:endParaRPr lang="en-AE" sz="1600" dirty="0"/>
          </a:p>
          <a:p>
            <a:pPr>
              <a:buNone/>
            </a:pPr>
            <a:r>
              <a:rPr lang="en-AE" sz="1600" b="1" dirty="0"/>
              <a:t>Q2. Technician Punctuality</a:t>
            </a:r>
          </a:p>
          <a:p>
            <a:pPr>
              <a:buNone/>
            </a:pPr>
            <a:r>
              <a:rPr lang="en-AE" sz="1600" b="1" dirty="0"/>
              <a:t>2. How would you rate the technician's punctuality / arrival time?</a:t>
            </a:r>
            <a:endParaRPr lang="en-AE" sz="1600" dirty="0"/>
          </a:p>
          <a:p>
            <a:pPr>
              <a:buNone/>
            </a:pPr>
            <a:r>
              <a:rPr lang="en-AE" sz="1600" dirty="0"/>
              <a:t>Please rate from </a:t>
            </a:r>
            <a:r>
              <a:rPr lang="en-AE" sz="1600" b="1" dirty="0"/>
              <a:t>1 to 10</a:t>
            </a:r>
            <a:br>
              <a:rPr lang="en-AE" sz="1600" dirty="0"/>
            </a:br>
            <a:r>
              <a:rPr lang="en-AE" sz="1600" dirty="0"/>
              <a:t>1 = Very Poor | 10 = Excellent</a:t>
            </a:r>
          </a:p>
          <a:p>
            <a:pPr>
              <a:buNone/>
            </a:pPr>
            <a:r>
              <a:rPr lang="en-AE" sz="1600" b="1" dirty="0"/>
              <a:t>Required: YES</a:t>
            </a:r>
          </a:p>
          <a:p>
            <a:pPr>
              <a:buNone/>
            </a:pPr>
            <a:endParaRPr lang="en-AE" sz="1600" b="1" dirty="0"/>
          </a:p>
          <a:p>
            <a:pPr>
              <a:buNone/>
            </a:pPr>
            <a:r>
              <a:rPr lang="en-AE" sz="1600" dirty="0"/>
              <a:t>This is useful because a good technician may still create customer dissatisfaction if the visit is significantly delayed.</a:t>
            </a:r>
          </a:p>
          <a:p>
            <a:pPr>
              <a:buNone/>
            </a:pPr>
            <a:endParaRPr lang="en-AE" sz="1600" dirty="0"/>
          </a:p>
          <a:p>
            <a:r>
              <a:rPr lang="en-AE" sz="1600" b="1" dirty="0"/>
              <a:t>Q3. Service Quality</a:t>
            </a:r>
          </a:p>
          <a:p>
            <a:r>
              <a:rPr lang="en-AE" sz="1600" b="1" dirty="0"/>
              <a:t>3. How would you rate the quality of service provided?</a:t>
            </a:r>
            <a:endParaRPr lang="en-AE" sz="1600" dirty="0"/>
          </a:p>
          <a:p>
            <a:r>
              <a:rPr lang="en-AE" sz="1600" dirty="0"/>
              <a:t>Please rate from </a:t>
            </a:r>
            <a:r>
              <a:rPr lang="en-AE" sz="1600" b="1" dirty="0"/>
              <a:t>1 to 10</a:t>
            </a:r>
            <a:br>
              <a:rPr lang="en-AE" sz="1600" dirty="0"/>
            </a:br>
            <a:r>
              <a:rPr lang="en-AE" sz="1600" dirty="0"/>
              <a:t>1 = Very Poor | 10 = Excellent</a:t>
            </a:r>
          </a:p>
          <a:p>
            <a:r>
              <a:rPr lang="en-AE" sz="1600" b="1" dirty="0"/>
              <a:t>Required: YES</a:t>
            </a:r>
            <a:endParaRPr lang="en-A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C50F00-20FC-932E-62CF-2F84E2561799}"/>
              </a:ext>
            </a:extLst>
          </p:cNvPr>
          <p:cNvSpPr txBox="1"/>
          <p:nvPr/>
        </p:nvSpPr>
        <p:spPr>
          <a:xfrm>
            <a:off x="6096000" y="809852"/>
            <a:ext cx="545529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sz="1400" b="1" dirty="0"/>
              <a:t>Q4. Complaint Resolution</a:t>
            </a:r>
          </a:p>
          <a:p>
            <a:pPr>
              <a:buNone/>
            </a:pPr>
            <a:r>
              <a:rPr lang="en-AE" sz="1400" dirty="0"/>
              <a:t>This is one of the </a:t>
            </a:r>
            <a:r>
              <a:rPr lang="en-AE" sz="1400" b="1" dirty="0"/>
              <a:t>most important additions</a:t>
            </a:r>
            <a:r>
              <a:rPr lang="en-AE" sz="1400" dirty="0"/>
              <a:t>.</a:t>
            </a:r>
          </a:p>
          <a:p>
            <a:pPr>
              <a:buNone/>
            </a:pPr>
            <a:r>
              <a:rPr lang="en-AE" sz="1400" b="1" dirty="0"/>
              <a:t>4. Was your reported problem resolved?</a:t>
            </a:r>
            <a:endParaRPr lang="en-AE" sz="1400" dirty="0"/>
          </a:p>
          <a:p>
            <a:pPr>
              <a:buNone/>
            </a:pPr>
            <a:r>
              <a:rPr lang="en-AE" sz="1400" b="1" dirty="0"/>
              <a:t>1️⃣ Completely Resolved</a:t>
            </a:r>
            <a:br>
              <a:rPr lang="en-AE" sz="1400" dirty="0"/>
            </a:br>
            <a:r>
              <a:rPr lang="en-AE" sz="1400" b="1" dirty="0"/>
              <a:t>2️⃣ Partially Resolved</a:t>
            </a:r>
            <a:br>
              <a:rPr lang="en-AE" sz="1400" dirty="0"/>
            </a:br>
            <a:r>
              <a:rPr lang="en-AE" sz="1400" b="1" dirty="0"/>
              <a:t>3️⃣ Not Resolved</a:t>
            </a:r>
            <a:endParaRPr lang="en-AE" sz="1400" dirty="0"/>
          </a:p>
          <a:p>
            <a:pPr>
              <a:buNone/>
            </a:pPr>
            <a:r>
              <a:rPr lang="en-AE" sz="1400" b="1" dirty="0"/>
              <a:t>Required: YES</a:t>
            </a:r>
            <a:endParaRPr lang="en-AE" sz="1400" dirty="0"/>
          </a:p>
          <a:p>
            <a:pPr>
              <a:buNone/>
            </a:pPr>
            <a:r>
              <a:rPr lang="en-AE" sz="1400" dirty="0"/>
              <a:t>This is better than asking only for a 1–10 score because it directly tells us whether the service actually solved the customer's problem.</a:t>
            </a:r>
          </a:p>
          <a:p>
            <a:pPr>
              <a:buNone/>
            </a:pPr>
            <a:r>
              <a:rPr lang="en-AE" sz="1400" b="1" dirty="0"/>
              <a:t>If "Partially Resolved" or "Not Resolved"</a:t>
            </a:r>
          </a:p>
          <a:p>
            <a:pPr>
              <a:buNone/>
            </a:pPr>
            <a:r>
              <a:rPr lang="en-AE" sz="1400" dirty="0"/>
              <a:t>The bot can ask:</a:t>
            </a:r>
          </a:p>
          <a:p>
            <a:pPr>
              <a:buNone/>
            </a:pPr>
            <a:r>
              <a:rPr lang="en-AE" sz="1400" b="1" dirty="0"/>
              <a:t>Please briefly explain what issue is still pending.</a:t>
            </a:r>
            <a:endParaRPr lang="en-AE" sz="1400" dirty="0"/>
          </a:p>
          <a:p>
            <a:pPr>
              <a:buNone/>
            </a:pPr>
            <a:r>
              <a:rPr lang="en-AE" sz="1400" dirty="0"/>
              <a:t>This comment should be flagged for backend follow-up.</a:t>
            </a:r>
            <a:br>
              <a:rPr lang="en-AE" sz="1400" dirty="0"/>
            </a:br>
            <a:endParaRPr lang="en-AE" sz="1400" dirty="0"/>
          </a:p>
          <a:p>
            <a:pPr>
              <a:buNone/>
            </a:pPr>
            <a:r>
              <a:rPr lang="en-AE" sz="1400" b="1" dirty="0"/>
              <a:t>Q5. Response Time</a:t>
            </a:r>
          </a:p>
          <a:p>
            <a:pPr>
              <a:buNone/>
            </a:pPr>
            <a:r>
              <a:rPr lang="en-AE" sz="1400" b="1" dirty="0"/>
              <a:t>5. How satisfied are you with our response time?</a:t>
            </a:r>
            <a:endParaRPr lang="en-AE" sz="1400" dirty="0"/>
          </a:p>
          <a:p>
            <a:pPr>
              <a:buNone/>
            </a:pPr>
            <a:r>
              <a:rPr lang="en-AE" sz="1400" dirty="0"/>
              <a:t>Please rate from </a:t>
            </a:r>
            <a:r>
              <a:rPr lang="en-AE" sz="1400" b="1" dirty="0"/>
              <a:t>1 to 10</a:t>
            </a:r>
            <a:br>
              <a:rPr lang="en-AE" sz="1400" dirty="0"/>
            </a:br>
            <a:r>
              <a:rPr lang="en-AE" sz="1400" dirty="0"/>
              <a:t>1 = Very Poor | 10 = Excellent</a:t>
            </a:r>
          </a:p>
          <a:p>
            <a:pPr>
              <a:buNone/>
            </a:pPr>
            <a:r>
              <a:rPr lang="en-AE" sz="1400" b="1" dirty="0"/>
              <a:t>Required: YES</a:t>
            </a:r>
            <a:br>
              <a:rPr lang="en-AE" sz="1400" dirty="0"/>
            </a:br>
            <a:endParaRPr lang="en-AE" sz="1400" dirty="0"/>
          </a:p>
          <a:p>
            <a:pPr>
              <a:buNone/>
            </a:pPr>
            <a:r>
              <a:rPr lang="en-AE" sz="1400" b="1" dirty="0"/>
              <a:t>Q6. Overall Service Experience</a:t>
            </a:r>
          </a:p>
          <a:p>
            <a:pPr>
              <a:buNone/>
            </a:pPr>
            <a:r>
              <a:rPr lang="en-AE" sz="1400" b="1" dirty="0"/>
              <a:t>6. How would you rate your overall experience with Impex Service?</a:t>
            </a:r>
            <a:endParaRPr lang="en-AE" sz="1400" dirty="0"/>
          </a:p>
          <a:p>
            <a:pPr>
              <a:buNone/>
            </a:pPr>
            <a:r>
              <a:rPr lang="en-AE" sz="1400" dirty="0"/>
              <a:t>Please rate from </a:t>
            </a:r>
            <a:r>
              <a:rPr lang="en-AE" sz="1400" b="1" dirty="0"/>
              <a:t>1 to 10</a:t>
            </a:r>
            <a:br>
              <a:rPr lang="en-AE" sz="1400" dirty="0"/>
            </a:br>
            <a:r>
              <a:rPr lang="en-AE" sz="1400" dirty="0"/>
              <a:t>1 = Very Poor | 10 = Excellent</a:t>
            </a:r>
          </a:p>
          <a:p>
            <a:pPr>
              <a:buNone/>
            </a:pPr>
            <a:r>
              <a:rPr lang="en-AE" sz="1400" b="1" dirty="0"/>
              <a:t>Required: YES</a:t>
            </a:r>
            <a:endParaRPr lang="en-AE" sz="1400" dirty="0"/>
          </a:p>
          <a:p>
            <a:pPr>
              <a:buNone/>
            </a:pPr>
            <a:r>
              <a:rPr lang="en-AE" sz="1400" dirty="0"/>
              <a:t>This can become your main </a:t>
            </a:r>
            <a:r>
              <a:rPr lang="en-AE" sz="1400" b="1" dirty="0"/>
              <a:t>Customer Service Satisfaction Score</a:t>
            </a:r>
            <a:r>
              <a:rPr lang="en-AE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2994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FF1F-BC91-9D48-19C5-6F7C5C38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C223D9-10FB-72A8-F38E-6AD8233C7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82ED67-BB45-56A0-2590-6287FEA64D82}"/>
              </a:ext>
            </a:extLst>
          </p:cNvPr>
          <p:cNvSpPr txBox="1"/>
          <p:nvPr/>
        </p:nvSpPr>
        <p:spPr>
          <a:xfrm>
            <a:off x="155242" y="551022"/>
            <a:ext cx="609755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Q7. Product Satisfaction</a:t>
            </a:r>
          </a:p>
          <a:p>
            <a:pPr>
              <a:buNone/>
            </a:pPr>
            <a:r>
              <a:rPr lang="en-AE" b="1" dirty="0"/>
              <a:t>7. How satisfied are you with your Impex product?</a:t>
            </a:r>
            <a:endParaRPr lang="en-AE" dirty="0"/>
          </a:p>
          <a:p>
            <a:pPr>
              <a:buNone/>
            </a:pPr>
            <a:r>
              <a:rPr lang="en-AE" dirty="0"/>
              <a:t>Please rate from </a:t>
            </a:r>
            <a:r>
              <a:rPr lang="en-AE" b="1" dirty="0"/>
              <a:t>1 to 10</a:t>
            </a:r>
            <a:br>
              <a:rPr lang="en-AE" dirty="0"/>
            </a:br>
            <a:r>
              <a:rPr lang="en-AE" dirty="0"/>
              <a:t>1 = Very Poor | 10 = Excellent</a:t>
            </a:r>
          </a:p>
          <a:p>
            <a:pPr>
              <a:buNone/>
            </a:pPr>
            <a:r>
              <a:rPr lang="en-AE" b="1" dirty="0"/>
              <a:t>Required: YES</a:t>
            </a:r>
            <a:endParaRPr lang="en-AE" dirty="0"/>
          </a:p>
          <a:p>
            <a:pPr>
              <a:buNone/>
            </a:pPr>
            <a:r>
              <a:rPr lang="en-AE" dirty="0"/>
              <a:t>This is particularly useful for our </a:t>
            </a:r>
            <a:r>
              <a:rPr lang="en-AE" b="1" dirty="0"/>
              <a:t>Product Quality Development</a:t>
            </a:r>
            <a:r>
              <a:rPr lang="en-AE" dirty="0"/>
              <a:t> activities because it separates </a:t>
            </a:r>
            <a:r>
              <a:rPr lang="en-AE" b="1" dirty="0"/>
              <a:t>service dissatisfaction from product dissatisfaction</a:t>
            </a:r>
            <a:r>
              <a:rPr lang="en-AE" dirty="0"/>
              <a:t>.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b="1" dirty="0"/>
              <a:t>Q8. Comments / Suggestions</a:t>
            </a:r>
          </a:p>
          <a:p>
            <a:pPr>
              <a:buNone/>
            </a:pPr>
            <a:r>
              <a:rPr lang="en-AE" b="1" dirty="0"/>
              <a:t>8. Do you have any additional comments, suggestions or feedback?</a:t>
            </a:r>
            <a:endParaRPr lang="en-AE" dirty="0"/>
          </a:p>
          <a:p>
            <a:pPr>
              <a:buNone/>
            </a:pPr>
            <a:r>
              <a:rPr lang="en-AE" dirty="0"/>
              <a:t>Please type your comments below.</a:t>
            </a:r>
          </a:p>
          <a:p>
            <a:pPr>
              <a:buNone/>
            </a:pPr>
            <a:r>
              <a:rPr lang="en-AE" dirty="0"/>
              <a:t>If you have no comments, please reply </a:t>
            </a:r>
            <a:r>
              <a:rPr lang="en-AE" b="1" dirty="0"/>
              <a:t>NO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b="1" dirty="0"/>
              <a:t>Required: NO</a:t>
            </a:r>
          </a:p>
          <a:p>
            <a:pPr>
              <a:buNone/>
            </a:pPr>
            <a:endParaRPr lang="en-AE" b="1" dirty="0"/>
          </a:p>
          <a:p>
            <a:r>
              <a:rPr lang="en-AE" b="1" dirty="0"/>
              <a:t>Q9. Recommendation</a:t>
            </a:r>
          </a:p>
          <a:p>
            <a:r>
              <a:rPr lang="en-AE" b="1" dirty="0"/>
              <a:t>9. How likely are you to recommend Impex products/service to your friends or family?</a:t>
            </a:r>
            <a:endParaRPr lang="en-AE" dirty="0"/>
          </a:p>
          <a:p>
            <a:r>
              <a:rPr lang="en-AE" dirty="0"/>
              <a:t>Please rate from </a:t>
            </a:r>
            <a:r>
              <a:rPr lang="en-AE" b="1" dirty="0"/>
              <a:t>0 to 10</a:t>
            </a:r>
            <a:r>
              <a:rPr lang="en-AE" dirty="0"/>
              <a:t>.</a:t>
            </a:r>
          </a:p>
          <a:p>
            <a:pPr>
              <a:buNone/>
            </a:pPr>
            <a:endParaRPr lang="en-A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95561-AA95-5963-7041-3F0F4B8F376A}"/>
              </a:ext>
            </a:extLst>
          </p:cNvPr>
          <p:cNvSpPr txBox="1"/>
          <p:nvPr/>
        </p:nvSpPr>
        <p:spPr>
          <a:xfrm>
            <a:off x="6208236" y="1039649"/>
            <a:ext cx="582852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8. Important Feedback Logic</a:t>
            </a:r>
          </a:p>
          <a:p>
            <a:pPr>
              <a:buNone/>
            </a:pPr>
            <a:r>
              <a:rPr lang="en-AE" dirty="0"/>
              <a:t>The bot should have special handling for poor feedback.</a:t>
            </a:r>
          </a:p>
          <a:p>
            <a:pPr>
              <a:buNone/>
            </a:pPr>
            <a:r>
              <a:rPr lang="en-AE" dirty="0"/>
              <a:t>For example:</a:t>
            </a:r>
          </a:p>
          <a:p>
            <a:pPr>
              <a:buNone/>
            </a:pPr>
            <a:r>
              <a:rPr lang="en-AE" b="1" dirty="0"/>
              <a:t>If Overall Service ≤ 5/10</a:t>
            </a:r>
          </a:p>
          <a:p>
            <a:pPr>
              <a:buNone/>
            </a:pPr>
            <a:r>
              <a:rPr lang="en-AE" dirty="0"/>
              <a:t>Bot can ask:</a:t>
            </a:r>
          </a:p>
          <a:p>
            <a:pPr>
              <a:buNone/>
            </a:pPr>
            <a:r>
              <a:rPr lang="en-AE" b="1" dirty="0"/>
              <a:t>We are sorry that your experience did not meet your expectations.</a:t>
            </a:r>
            <a:endParaRPr lang="en-AE" dirty="0"/>
          </a:p>
          <a:p>
            <a:pPr>
              <a:buNone/>
            </a:pPr>
            <a:r>
              <a:rPr lang="en-AE" dirty="0"/>
              <a:t>Please tell us briefly what went wrong so that our team can review and improve the service.</a:t>
            </a:r>
          </a:p>
          <a:p>
            <a:pPr>
              <a:buNone/>
            </a:pPr>
            <a:r>
              <a:rPr lang="en-AE" dirty="0"/>
              <a:t>This comment should be </a:t>
            </a:r>
            <a:r>
              <a:rPr lang="en-AE" b="1" dirty="0"/>
              <a:t>flagged for management/backend follow-up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Similarly:</a:t>
            </a:r>
          </a:p>
          <a:p>
            <a:pPr>
              <a:buNone/>
            </a:pPr>
            <a:r>
              <a:rPr lang="en-AE" b="1" dirty="0"/>
              <a:t>If Complaint Resolution = Not Resolved</a:t>
            </a:r>
          </a:p>
          <a:p>
            <a:pPr>
              <a:buNone/>
            </a:pPr>
            <a:r>
              <a:rPr lang="en-AE" dirty="0"/>
              <a:t>Automatically flag:</a:t>
            </a:r>
          </a:p>
          <a:p>
            <a:pPr>
              <a:buNone/>
            </a:pPr>
            <a:r>
              <a:rPr lang="en-AE" b="1" dirty="0"/>
              <a:t>"Customer reports issue not resolved – Follow-up required."</a:t>
            </a:r>
            <a:endParaRPr lang="en-AE" dirty="0"/>
          </a:p>
          <a:p>
            <a:pPr>
              <a:buNone/>
            </a:pPr>
            <a:r>
              <a:rPr lang="en-AE" dirty="0"/>
              <a:t>This is more valuable than simply storing a low score.</a:t>
            </a:r>
          </a:p>
        </p:txBody>
      </p:sp>
    </p:spTree>
    <p:extLst>
      <p:ext uri="{BB962C8B-B14F-4D97-AF65-F5344CB8AC3E}">
        <p14:creationId xmlns:p14="http://schemas.microsoft.com/office/powerpoint/2010/main" val="2882006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46E56-6183-1916-51C3-5CC9C0F0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EA777B-B5CE-4034-0C4F-2B07E7D31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196A2C-C2F2-C20C-E6AE-C3A220F0A641}"/>
              </a:ext>
            </a:extLst>
          </p:cNvPr>
          <p:cNvSpPr txBox="1"/>
          <p:nvPr/>
        </p:nvSpPr>
        <p:spPr>
          <a:xfrm>
            <a:off x="285871" y="1582340"/>
            <a:ext cx="437010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AE" b="1" dirty="0"/>
              <a:t>10. Feedback Final Message</a:t>
            </a:r>
          </a:p>
          <a:p>
            <a:pPr>
              <a:buNone/>
            </a:pPr>
            <a:endParaRPr lang="en-AE" b="1" dirty="0"/>
          </a:p>
          <a:p>
            <a:pPr>
              <a:buNone/>
            </a:pPr>
            <a:r>
              <a:rPr lang="en-AE" dirty="0"/>
              <a:t>After all questions are completed:</a:t>
            </a:r>
          </a:p>
          <a:p>
            <a:pPr>
              <a:buNone/>
            </a:pPr>
            <a:r>
              <a:rPr lang="en-AE" b="1" dirty="0"/>
              <a:t>Thank you for your valuable feedback!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dirty="0"/>
              <a:t>Your feedback has been successfully recorded against </a:t>
            </a:r>
            <a:r>
              <a:rPr lang="en-AE" b="1" dirty="0"/>
              <a:t>Service UID: XXXXXXXX</a:t>
            </a:r>
            <a:r>
              <a:rPr lang="en-AE" dirty="0"/>
              <a:t>.</a:t>
            </a:r>
          </a:p>
          <a:p>
            <a:pPr>
              <a:buNone/>
            </a:pPr>
            <a:r>
              <a:rPr lang="en-AE" dirty="0"/>
              <a:t>Your feedback helps us improve our </a:t>
            </a:r>
            <a:r>
              <a:rPr lang="en-AE" b="1" dirty="0"/>
              <a:t>products and service quality</a:t>
            </a:r>
            <a:r>
              <a:rPr lang="en-AE" dirty="0"/>
              <a:t>.</a:t>
            </a:r>
          </a:p>
          <a:p>
            <a:pPr>
              <a:buNone/>
            </a:pPr>
            <a:endParaRPr lang="en-AE" dirty="0"/>
          </a:p>
          <a:p>
            <a:pPr>
              <a:buNone/>
            </a:pPr>
            <a:r>
              <a:rPr lang="en-AE" b="1" dirty="0"/>
              <a:t>Thank you for choosing Impex.</a:t>
            </a:r>
            <a:endParaRPr lang="en-AE" dirty="0"/>
          </a:p>
          <a:p>
            <a:pPr>
              <a:buNone/>
            </a:pPr>
            <a:r>
              <a:rPr lang="en-AE" dirty="0"/>
              <a:t>Have a great day!</a:t>
            </a:r>
          </a:p>
          <a:p>
            <a:pPr>
              <a:buNone/>
            </a:pPr>
            <a:r>
              <a:rPr lang="en-AE" b="1" dirty="0"/>
              <a:t>Chat closes automatically.</a:t>
            </a:r>
            <a:endParaRPr lang="en-A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D3C5F-BE35-EE3E-4191-2E0CCE18B742}"/>
              </a:ext>
            </a:extLst>
          </p:cNvPr>
          <p:cNvSpPr txBox="1"/>
          <p:nvPr/>
        </p:nvSpPr>
        <p:spPr>
          <a:xfrm>
            <a:off x="5896948" y="227171"/>
            <a:ext cx="509451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AE" sz="1400" b="1" dirty="0"/>
              <a:t>11. Complete Option 3 Process Flow</a:t>
            </a:r>
          </a:p>
          <a:p>
            <a:pPr algn="ctr">
              <a:buNone/>
            </a:pPr>
            <a:r>
              <a:rPr lang="en-AE" sz="1400" b="1" dirty="0"/>
              <a:t>REG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3️⃣ Rate Our Service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Enter Service UID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UID Validation</a:t>
            </a:r>
            <a:endParaRPr lang="en-AE" sz="1400" dirty="0"/>
          </a:p>
          <a:p>
            <a:pPr algn="ctr">
              <a:buNone/>
            </a:pPr>
            <a:r>
              <a:rPr lang="en-AE" sz="1400" b="1" dirty="0"/>
              <a:t>UID Invalid</a:t>
            </a:r>
          </a:p>
          <a:p>
            <a:pPr algn="ctr">
              <a:buNone/>
            </a:pPr>
            <a:r>
              <a:rPr lang="en-AE" sz="1400" dirty="0"/>
              <a:t>→ Retry UID</a:t>
            </a:r>
            <a:br>
              <a:rPr lang="en-AE" sz="1400" dirty="0"/>
            </a:br>
            <a:r>
              <a:rPr lang="en-AE" sz="1400" dirty="0"/>
              <a:t>→ After maximum attempts → Support/Close</a:t>
            </a:r>
          </a:p>
          <a:p>
            <a:pPr algn="ctr">
              <a:buNone/>
            </a:pPr>
            <a:r>
              <a:rPr lang="en-AE" sz="1400" b="1" dirty="0"/>
              <a:t>UID Valid</a:t>
            </a:r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Check Previous Feedback</a:t>
            </a:r>
            <a:endParaRPr lang="en-AE" sz="1400" dirty="0"/>
          </a:p>
          <a:p>
            <a:pPr algn="ctr">
              <a:buNone/>
            </a:pPr>
            <a:r>
              <a:rPr lang="en-AE" sz="1400" b="1" dirty="0"/>
              <a:t>Already Submitted</a:t>
            </a:r>
          </a:p>
          <a:p>
            <a:pPr algn="ctr">
              <a:buNone/>
            </a:pPr>
            <a:r>
              <a:rPr lang="en-AE" sz="1400" dirty="0"/>
              <a:t>→ Inform customer</a:t>
            </a:r>
            <a:br>
              <a:rPr lang="en-AE" sz="1400" dirty="0"/>
            </a:br>
            <a:r>
              <a:rPr lang="en-AE" sz="1400" dirty="0"/>
              <a:t>→ Close</a:t>
            </a:r>
          </a:p>
          <a:p>
            <a:pPr algn="ctr">
              <a:buNone/>
            </a:pPr>
            <a:r>
              <a:rPr lang="en-AE" sz="1400" b="1" dirty="0"/>
              <a:t>Not Submitted</a:t>
            </a:r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Questionnaire </a:t>
            </a:r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Save all feedback against UID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Check low score / unresolved complaint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Flag for backend follow-up if required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Thank-you message</a:t>
            </a:r>
            <a:endParaRPr lang="en-AE" sz="1400" dirty="0"/>
          </a:p>
          <a:p>
            <a:pPr algn="ctr">
              <a:buNone/>
            </a:pPr>
            <a:r>
              <a:rPr lang="en-AE" sz="1400" dirty="0"/>
              <a:t>↓</a:t>
            </a:r>
          </a:p>
          <a:p>
            <a:pPr algn="ctr">
              <a:buNone/>
            </a:pPr>
            <a:r>
              <a:rPr lang="en-AE" sz="1400" b="1" dirty="0"/>
              <a:t>Close WhatsApp chat</a:t>
            </a:r>
            <a:endParaRPr lang="en-AE" sz="1400" dirty="0"/>
          </a:p>
        </p:txBody>
      </p:sp>
    </p:spTree>
    <p:extLst>
      <p:ext uri="{BB962C8B-B14F-4D97-AF65-F5344CB8AC3E}">
        <p14:creationId xmlns:p14="http://schemas.microsoft.com/office/powerpoint/2010/main" val="3592148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FE7D0-FB35-5BB8-8436-DD09BD4B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EBE81-93CE-1C88-8C42-4E35F9D8A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124535"/>
            <a:ext cx="682958" cy="51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11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13669</TotalTime>
  <Words>1946</Words>
  <Application>Microsoft Office PowerPoint</Application>
  <PresentationFormat>Widescreen</PresentationFormat>
  <Paragraphs>347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KCM 365_9</dc:creator>
  <cp:lastModifiedBy>Sijomon P</cp:lastModifiedBy>
  <cp:revision>281</cp:revision>
  <dcterms:created xsi:type="dcterms:W3CDTF">2023-10-05T04:21:26Z</dcterms:created>
  <dcterms:modified xsi:type="dcterms:W3CDTF">2026-08-04T12:54:54Z</dcterms:modified>
</cp:coreProperties>
</file>